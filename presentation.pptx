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68" y="15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10/14/2026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1 — The Problem. Open with the SDG 12.8 target verbatim, then pivot to the tension: despite the goal, fatigue and perceived futility of individual action are widespread. Reference the Deloitte UK 2024 press release as evidence. Frame this as the insight that motivated your team's intervention.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2 — IBM Design Thinking process. Walk through the three phases: (1) Empathy Map — what we learned about how people feel about sustainable living; (2) As-Is Scenario Map — the current broken journey from awareness to dropout; (3) Ideation — the HMW question and the winning solution concept. Emphasise that IBM Design Thinking kept us user-centred throughout.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Slide 3 — The solution. Demo the CommonGround app. Highlight: (1) the anti-fatigue design — community collective totals make individual actions feel significant; (2) social norm visibility via the leaderboard and 'your contribution is X% of our total'; (3) all built with IBM Bob in a single session — from empathy insight to working application. Close by connecting back to SDG 12.8: the app is a direct operationalisation of the target.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100000" name="SlideNum"/>
          <p:cNvSpPr txBox="1"/>
          <p:nvPr/>
        </p:nvSpPr>
        <p:spPr>
          <a:xfrm>
            <a:off x="540000" y="360000"/>
            <a:ext cx="1800000" cy="540000"/>
          </a:xfrm>
          <a:prstGeom prst="rect">
            <a:avLst/>
          </a:prstGeom>
          <a:noFill/>
        </p:spPr>
        <p:txBody>
          <a:bodyPr/>
          <a:lstStyle/>
          <a:p>
            <a:r>
              <a:rPr lang="en-US" sz="4800" b="1">
                <a:solidFill>
                  <a:srgbClr val="52B788"/>
                </a:solidFill>
              </a:rPr>
              <a:t>01</a:t>
            </a:r>
          </a:p>
        </p:txBody>
      </p:sp>
      <p:sp>
        <p:nvSpPr>
          <p:cNvPr id="100001" name="Title"/>
          <p:cNvSpPr txBox="1"/>
          <p:nvPr/>
        </p:nvSpPr>
        <p:spPr>
          <a:xfrm>
            <a:off x="540000" y="1008000"/>
            <a:ext cx="10440000" cy="1008000"/>
          </a:xfrm>
          <a:prstGeom prst="rect">
            <a:avLst/>
          </a:prstGeom>
          <a:noFill/>
        </p:spPr>
        <p:txBody>
          <a:bodyPr/>
          <a:lstStyle/>
          <a:p>
            <a:r>
              <a:rPr lang="en-US" sz="4000" b="1">
                <a:solidFill>
                  <a:srgbClr val="FFFFFF"/>
                </a:solidFill>
              </a:rPr>
              <a:t>What is the Problem?</a:t>
            </a:r>
          </a:p>
        </p:txBody>
      </p:sp>
      <p:sp>
        <p:nvSpPr>
          <p:cNvPr id="100002" name="SDGTag"/>
          <p:cNvSpPr txBox="1"/>
          <p:nvPr/>
        </p:nvSpPr>
        <p:spPr>
          <a:xfrm>
            <a:off x="540000" y="2088000"/>
            <a:ext cx="4320000" cy="324000"/>
          </a:xfrm>
          <a:prstGeom prst="rect">
            <a:avLst/>
          </a:prstGeom>
          <a:noFill/>
        </p:spPr>
        <p:txBody>
          <a:bodyPr/>
          <a:lstStyle/>
          <a:p>
            <a:r>
              <a:rPr lang="en-US" sz="1400" b="1" dirty="0">
                <a:solidFill>
                  <a:srgbClr val="52B788"/>
                </a:solidFill>
              </a:rPr>
              <a:t>UNSDG Target 12.8</a:t>
            </a:r>
          </a:p>
        </p:txBody>
      </p:sp>
      <p:sp>
        <p:nvSpPr>
          <p:cNvPr id="100003" name="Body"/>
          <p:cNvSpPr txBox="1"/>
          <p:nvPr/>
        </p:nvSpPr>
        <p:spPr>
          <a:xfrm>
            <a:off x="540000" y="2484000"/>
            <a:ext cx="6840000" cy="3420000"/>
          </a:xfrm>
          <a:prstGeom prst="rect">
            <a:avLst/>
          </a:prstGeom>
          <a:noFill/>
        </p:spPr>
        <p:txBody>
          <a:bodyPr/>
          <a:lstStyle/>
          <a:p>
            <a:r>
              <a:rPr lang="en-US" sz="1600" dirty="0">
                <a:solidFill>
                  <a:srgbClr val="D8F3DC"/>
                </a:solidFill>
              </a:rPr>
              <a:t>By 2030, ensure that people everywhere have the relevant information and awareness for sustainable development and lifestyles in harmony with nature.</a:t>
            </a:r>
          </a:p>
          <a:p>
            <a:endParaRPr lang="en-US" sz="1600" dirty="0">
              <a:solidFill>
                <a:srgbClr val="D8F3DC"/>
              </a:solidFill>
            </a:endParaRPr>
          </a:p>
          <a:p>
            <a:r>
              <a:rPr lang="en-US" sz="1600" dirty="0">
                <a:solidFill>
                  <a:srgbClr val="D8F3DC"/>
                </a:solidFill>
              </a:rPr>
              <a:t>Despite this global commitment, a growing body of evidence — including Deloitte's 2024 research — shows that cost and sustainability fatigue are stifling consumers' efforts to adopt more sustainable lifestyles.</a:t>
            </a:r>
          </a:p>
          <a:p>
            <a:endParaRPr lang="en-US" sz="1600" dirty="0">
              <a:solidFill>
                <a:srgbClr val="D8F3DC"/>
              </a:solidFill>
            </a:endParaRPr>
          </a:p>
          <a:p>
            <a:r>
              <a:rPr lang="en-US" sz="1600" dirty="0">
                <a:solidFill>
                  <a:srgbClr val="D8F3DC"/>
                </a:solidFill>
              </a:rPr>
              <a:t>Many individuals feel that their personal choices make no measurable difference, leading to disengagement and inaction at precisely the moment collective </a:t>
            </a:r>
            <a:r>
              <a:rPr lang="en-US" sz="1600" dirty="0" err="1">
                <a:solidFill>
                  <a:srgbClr val="D8F3DC"/>
                </a:solidFill>
              </a:rPr>
              <a:t>behaviour</a:t>
            </a:r>
            <a:r>
              <a:rPr lang="en-US" sz="1600" dirty="0">
                <a:solidFill>
                  <a:srgbClr val="D8F3DC"/>
                </a:solidFill>
              </a:rPr>
              <a:t> change is most critical.</a:t>
            </a:r>
          </a:p>
        </p:txBody>
      </p:sp>
      <p:sp>
        <p:nvSpPr>
          <p:cNvPr id="100004" name="StatBox"/>
          <p:cNvSpPr txBox="1"/>
          <p:nvPr/>
        </p:nvSpPr>
        <p:spPr>
          <a:xfrm>
            <a:off x="7740000" y="2484000"/>
            <a:ext cx="3600000" cy="1800000"/>
          </a:xfrm>
          <a:prstGeom prst="rect">
            <a:avLst/>
          </a:prstGeom>
          <a:solidFill>
            <a:srgbClr val="95D5B2"/>
          </a:solidFill>
        </p:spPr>
        <p:txBody>
          <a:bodyPr/>
          <a:lstStyle/>
          <a:p>
            <a:r>
              <a:rPr lang="en-US" sz="1400" b="0" dirty="0">
                <a:solidFill>
                  <a:srgbClr val="1B4332"/>
                </a:solidFill>
              </a:rPr>
              <a:t>72%</a:t>
            </a:r>
          </a:p>
          <a:p>
            <a:r>
              <a:rPr lang="en-US" sz="1400" b="0" dirty="0">
                <a:solidFill>
                  <a:srgbClr val="1B4332"/>
                </a:solidFill>
              </a:rPr>
              <a:t>of consumers say sustainability fatigue makes them less likely to take action</a:t>
            </a:r>
          </a:p>
          <a:p>
            <a:r>
              <a:rPr lang="en-US" sz="1400" b="0" dirty="0">
                <a:solidFill>
                  <a:srgbClr val="1B4332"/>
                </a:solidFill>
              </a:rPr>
              <a:t>(Deloitte UK, 2024)</a:t>
            </a:r>
          </a:p>
        </p:txBody>
      </p:sp>
      <p:sp>
        <p:nvSpPr>
          <p:cNvPr id="100005" name="Source"/>
          <p:cNvSpPr txBox="1"/>
          <p:nvPr/>
        </p:nvSpPr>
        <p:spPr>
          <a:xfrm>
            <a:off x="540000" y="6120000"/>
            <a:ext cx="10440000" cy="288000"/>
          </a:xfrm>
          <a:prstGeom prst="rect">
            <a:avLst/>
          </a:prstGeom>
          <a:noFill/>
        </p:spPr>
        <p:txBody>
          <a:bodyPr/>
          <a:lstStyle/>
          <a:p>
            <a:r>
              <a:rPr lang="en-US" sz="900">
                <a:solidFill>
                  <a:srgbClr val="74C69D"/>
                </a:solidFill>
              </a:rPr>
              <a:t>Source: deloitte.com/uk/en/about/press-room/cost-and-sustainability-fatigue-stifle-consumers-efforts-to-adopt-more-sustainable-lifestyles.html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100006" name="SlideNum"/>
          <p:cNvSpPr txBox="1"/>
          <p:nvPr/>
        </p:nvSpPr>
        <p:spPr>
          <a:xfrm>
            <a:off x="540000" y="360000"/>
            <a:ext cx="1800000" cy="540000"/>
          </a:xfrm>
          <a:prstGeom prst="rect">
            <a:avLst/>
          </a:prstGeom>
          <a:noFill/>
        </p:spPr>
        <p:txBody>
          <a:bodyPr/>
          <a:lstStyle/>
          <a:p>
            <a:r>
              <a:rPr lang="en-US" sz="4800" b="1">
                <a:solidFill>
                  <a:srgbClr val="4895EF"/>
                </a:solidFill>
              </a:rPr>
              <a:t>02</a:t>
            </a:r>
          </a:p>
        </p:txBody>
      </p:sp>
      <p:sp>
        <p:nvSpPr>
          <p:cNvPr id="100007" name="Title"/>
          <p:cNvSpPr txBox="1"/>
          <p:nvPr/>
        </p:nvSpPr>
        <p:spPr>
          <a:xfrm>
            <a:off x="540000" y="1008000"/>
            <a:ext cx="10440000" cy="1008000"/>
          </a:xfrm>
          <a:prstGeom prst="rect">
            <a:avLst/>
          </a:prstGeom>
          <a:noFill/>
        </p:spPr>
        <p:txBody>
          <a:bodyPr/>
          <a:lstStyle/>
          <a:p>
            <a:r>
              <a:rPr lang="en-US" sz="3800" b="1">
                <a:solidFill>
                  <a:srgbClr val="FFFFFF"/>
                </a:solidFill>
              </a:rPr>
              <a:t>IBM Design Thinking — Understand &amp; Narrow</a:t>
            </a:r>
          </a:p>
        </p:txBody>
      </p:sp>
      <p:sp>
        <p:nvSpPr>
          <p:cNvPr id="100008" name="Step1Box"/>
          <p:cNvSpPr txBox="1"/>
          <p:nvPr/>
        </p:nvSpPr>
        <p:spPr>
          <a:xfrm>
            <a:off x="540000" y="2232000"/>
            <a:ext cx="3420000" cy="3240000"/>
          </a:xfrm>
          <a:prstGeom prst="rect">
            <a:avLst/>
          </a:prstGeom>
          <a:solidFill>
            <a:srgbClr val="1B4F72"/>
          </a:solidFill>
        </p:spPr>
        <p:txBody>
          <a:bodyPr/>
          <a:lstStyle/>
          <a:p>
            <a:r>
              <a:rPr lang="en-US" sz="1300" dirty="0">
                <a:solidFill>
                  <a:srgbClr val="E0FBFC"/>
                </a:solidFill>
              </a:rPr>
              <a:t>🗺  Empathy Map</a:t>
            </a:r>
          </a:p>
          <a:p>
            <a:endParaRPr lang="en-US" sz="1300" dirty="0">
              <a:solidFill>
                <a:srgbClr val="E0FBFC"/>
              </a:solidFill>
            </a:endParaRPr>
          </a:p>
          <a:p>
            <a:r>
              <a:rPr lang="en-US" sz="1300" dirty="0">
                <a:solidFill>
                  <a:srgbClr val="E0FBFC"/>
                </a:solidFill>
              </a:rPr>
              <a:t>We used an empathy map to understand what people Think &amp; Feel, Say &amp; Do, Hear, and See about sustainable living.</a:t>
            </a:r>
          </a:p>
          <a:p>
            <a:endParaRPr lang="en-US" sz="1300" dirty="0">
              <a:solidFill>
                <a:srgbClr val="E0FBFC"/>
              </a:solidFill>
            </a:endParaRPr>
          </a:p>
          <a:p>
            <a:r>
              <a:rPr lang="en-US" sz="1300" dirty="0">
                <a:solidFill>
                  <a:srgbClr val="E0FBFC"/>
                </a:solidFill>
              </a:rPr>
              <a:t>Key insight: people know what to do but feel their individual effort is invisible and disconnected from collective progress.</a:t>
            </a:r>
          </a:p>
        </p:txBody>
      </p:sp>
      <p:sp>
        <p:nvSpPr>
          <p:cNvPr id="100009" name="Step2Box"/>
          <p:cNvSpPr txBox="1"/>
          <p:nvPr/>
        </p:nvSpPr>
        <p:spPr>
          <a:xfrm>
            <a:off x="4140000" y="2232000"/>
            <a:ext cx="3420000" cy="3240000"/>
          </a:xfrm>
          <a:prstGeom prst="rect">
            <a:avLst/>
          </a:prstGeom>
          <a:solidFill>
            <a:srgbClr val="154360"/>
          </a:solidFill>
        </p:spPr>
        <p:txBody>
          <a:bodyPr/>
          <a:lstStyle/>
          <a:p>
            <a:r>
              <a:rPr lang="en-US" sz="1300" dirty="0">
                <a:solidFill>
                  <a:srgbClr val="E0FBFC"/>
                </a:solidFill>
              </a:rPr>
              <a:t>📍  As-Is Scenario Map</a:t>
            </a:r>
          </a:p>
          <a:p>
            <a:endParaRPr lang="en-US" sz="1300" dirty="0">
              <a:solidFill>
                <a:srgbClr val="E0FBFC"/>
              </a:solidFill>
            </a:endParaRPr>
          </a:p>
          <a:p>
            <a:r>
              <a:rPr lang="en-US" sz="1300" dirty="0">
                <a:solidFill>
                  <a:srgbClr val="E0FBFC"/>
                </a:solidFill>
              </a:rPr>
              <a:t>We mapped the current user journey: awareness → intent → single action → dropout due to lack of visible community impact.</a:t>
            </a:r>
          </a:p>
          <a:p>
            <a:endParaRPr lang="en-US" sz="1300" dirty="0">
              <a:solidFill>
                <a:srgbClr val="E0FBFC"/>
              </a:solidFill>
            </a:endParaRPr>
          </a:p>
          <a:p>
            <a:r>
              <a:rPr lang="en-US" sz="1300" dirty="0">
                <a:solidFill>
                  <a:srgbClr val="E0FBFC"/>
                </a:solidFill>
              </a:rPr>
              <a:t>Pain point identified: no feedback loop connecting personal action to community-level change.</a:t>
            </a:r>
          </a:p>
        </p:txBody>
      </p:sp>
      <p:sp>
        <p:nvSpPr>
          <p:cNvPr id="100010" name="Step3Box"/>
          <p:cNvSpPr txBox="1"/>
          <p:nvPr/>
        </p:nvSpPr>
        <p:spPr>
          <a:xfrm>
            <a:off x="7740000" y="2232000"/>
            <a:ext cx="3420000" cy="3240000"/>
          </a:xfrm>
          <a:prstGeom prst="rect">
            <a:avLst/>
          </a:prstGeom>
          <a:solidFill>
            <a:srgbClr val="0D3349"/>
          </a:solidFill>
        </p:spPr>
        <p:txBody>
          <a:bodyPr/>
          <a:lstStyle/>
          <a:p>
            <a:r>
              <a:rPr lang="en-US" sz="1300" dirty="0">
                <a:solidFill>
                  <a:srgbClr val="E0FBFC"/>
                </a:solidFill>
              </a:rPr>
              <a:t>💡  Ideation</a:t>
            </a:r>
          </a:p>
          <a:p>
            <a:endParaRPr lang="en-US" sz="1300" dirty="0">
              <a:solidFill>
                <a:srgbClr val="E0FBFC"/>
              </a:solidFill>
            </a:endParaRPr>
          </a:p>
          <a:p>
            <a:r>
              <a:rPr lang="en-US" sz="1300" dirty="0">
                <a:solidFill>
                  <a:srgbClr val="E0FBFC"/>
                </a:solidFill>
              </a:rPr>
              <a:t>HMW: How might we make individual sustainability actions feel meaningful at community scale?</a:t>
            </a:r>
          </a:p>
          <a:p>
            <a:endParaRPr lang="en-US" sz="1300" dirty="0">
              <a:solidFill>
                <a:srgbClr val="E0FBFC"/>
              </a:solidFill>
            </a:endParaRPr>
          </a:p>
          <a:p>
            <a:r>
              <a:rPr lang="en-US" sz="1300" dirty="0">
                <a:solidFill>
                  <a:srgbClr val="E0FBFC"/>
                </a:solidFill>
              </a:rPr>
              <a:t>Winning idea: a real-time dashboard that aggregates personal actions into visible collective impact — with SDG 12.8 benchmarks as the reference frame.</a:t>
            </a:r>
          </a:p>
        </p:txBody>
      </p:sp>
      <p:sp>
        <p:nvSpPr>
          <p:cNvPr id="100011" name="Connector"/>
          <p:cNvSpPr txBox="1"/>
          <p:nvPr/>
        </p:nvSpPr>
        <p:spPr>
          <a:xfrm>
            <a:off x="540000" y="5580000"/>
            <a:ext cx="10440000" cy="288000"/>
          </a:xfrm>
          <a:prstGeom prst="rect">
            <a:avLst/>
          </a:prstGeom>
          <a:noFill/>
        </p:spPr>
        <p:txBody>
          <a:bodyPr/>
          <a:lstStyle/>
          <a:p>
            <a:r>
              <a:rPr lang="en-US" sz="1200" b="1">
                <a:solidFill>
                  <a:srgbClr val="4895EF"/>
                </a:solidFill>
              </a:rPr>
              <a:t>EMPATHISE  ──────►  AS-IS MAP  ──────►  IDEATE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12" name="AccentBar"/>
          <p:cNvSpPr txBox="1"/>
          <p:nvPr/>
        </p:nvSpPr>
        <p:spPr>
          <a:xfrm>
            <a:off x="0" y="0"/>
            <a:ext cx="11520000" cy="216000"/>
          </a:xfrm>
          <a:prstGeom prst="rect">
            <a:avLst/>
          </a:prstGeom>
          <a:solidFill>
            <a:srgbClr val="2E7D32"/>
          </a:solidFill>
        </p:spPr>
        <p:txBody>
          <a:bodyPr/>
          <a:lstStyle/>
          <a:p>
            <a:endParaRPr lang="en-US" sz="1200" b="0">
              <a:solidFill>
                <a:srgbClr val="FFFFFF"/>
              </a:solidFill>
            </a:endParaRPr>
          </a:p>
        </p:txBody>
      </p:sp>
      <p:sp>
        <p:nvSpPr>
          <p:cNvPr id="100013" name="SlideNum"/>
          <p:cNvSpPr txBox="1"/>
          <p:nvPr/>
        </p:nvSpPr>
        <p:spPr>
          <a:xfrm>
            <a:off x="540000" y="432000"/>
            <a:ext cx="1800000" cy="540000"/>
          </a:xfrm>
          <a:prstGeom prst="rect">
            <a:avLst/>
          </a:prstGeom>
          <a:noFill/>
        </p:spPr>
        <p:txBody>
          <a:bodyPr/>
          <a:lstStyle/>
          <a:p>
            <a:r>
              <a:rPr lang="en-US" sz="4800" b="1">
                <a:solidFill>
                  <a:srgbClr val="2E7D32"/>
                </a:solidFill>
              </a:rPr>
              <a:t>03</a:t>
            </a:r>
          </a:p>
        </p:txBody>
      </p:sp>
      <p:sp>
        <p:nvSpPr>
          <p:cNvPr id="100014" name="Title"/>
          <p:cNvSpPr txBox="1"/>
          <p:nvPr/>
        </p:nvSpPr>
        <p:spPr>
          <a:xfrm>
            <a:off x="540000" y="1008000"/>
            <a:ext cx="10440000" cy="1008000"/>
          </a:xfrm>
          <a:prstGeom prst="rect">
            <a:avLst/>
          </a:prstGeom>
          <a:noFill/>
        </p:spPr>
        <p:txBody>
          <a:bodyPr/>
          <a:lstStyle/>
          <a:p>
            <a:r>
              <a:rPr lang="en-US" sz="3800" b="1">
                <a:solidFill>
                  <a:srgbClr val="1A2116"/>
                </a:solidFill>
              </a:rPr>
              <a:t>CommonGround — Built with IBM Bob</a:t>
            </a:r>
          </a:p>
        </p:txBody>
      </p:sp>
      <p:sp>
        <p:nvSpPr>
          <p:cNvPr id="100015" name="SubTitle"/>
          <p:cNvSpPr txBox="1"/>
          <p:nvPr/>
        </p:nvSpPr>
        <p:spPr>
          <a:xfrm>
            <a:off x="540000" y="2016000"/>
            <a:ext cx="10440000" cy="324000"/>
          </a:xfrm>
          <a:prstGeom prst="rect">
            <a:avLst/>
          </a:prstGeom>
          <a:noFill/>
        </p:spPr>
        <p:txBody>
          <a:bodyPr/>
          <a:lstStyle/>
          <a:p>
            <a:r>
              <a:rPr lang="en-US" sz="1600" b="0" dirty="0">
                <a:solidFill>
                  <a:srgbClr val="5A6B55"/>
                </a:solidFill>
              </a:rPr>
              <a:t>Develop phase: from design insight to working application</a:t>
            </a:r>
          </a:p>
        </p:txBody>
      </p:sp>
      <p:sp>
        <p:nvSpPr>
          <p:cNvPr id="100016" name="FeatureList"/>
          <p:cNvSpPr txBox="1"/>
          <p:nvPr/>
        </p:nvSpPr>
        <p:spPr>
          <a:xfrm>
            <a:off x="540000" y="2520000"/>
            <a:ext cx="6840000" cy="3600000"/>
          </a:xfrm>
          <a:prstGeom prst="rect">
            <a:avLst/>
          </a:prstGeom>
          <a:noFill/>
        </p:spPr>
        <p:txBody>
          <a:bodyPr/>
          <a:lstStyle/>
          <a:p>
            <a:r>
              <a:rPr lang="en-US" sz="1300" dirty="0">
                <a:solidFill>
                  <a:srgbClr val="2A3A26"/>
                </a:solidFill>
              </a:rPr>
              <a:t>📊  Dashboard — personal CO₂ savings vs community median, streak tracker, category donut chart</a:t>
            </a:r>
          </a:p>
          <a:p>
            <a:endParaRPr lang="en-US" sz="1300" dirty="0">
              <a:solidFill>
                <a:srgbClr val="2A3A26"/>
              </a:solidFill>
            </a:endParaRPr>
          </a:p>
          <a:p>
            <a:r>
              <a:rPr lang="en-US" sz="1300" dirty="0">
                <a:solidFill>
                  <a:srgbClr val="2A3A26"/>
                </a:solidFill>
              </a:rPr>
              <a:t>➕  Log Action — 6 categories (Transport, Food, Energy, Waste, Water, Shopping) with live CO₂ preview using IPCC / DEFRA 2023 emission factors</a:t>
            </a:r>
          </a:p>
          <a:p>
            <a:endParaRPr lang="en-US" sz="1300" dirty="0">
              <a:solidFill>
                <a:srgbClr val="2A3A26"/>
              </a:solidFill>
            </a:endParaRPr>
          </a:p>
          <a:p>
            <a:r>
              <a:rPr lang="en-US" sz="1300" dirty="0">
                <a:solidFill>
                  <a:srgbClr val="2A3A26"/>
                </a:solidFill>
              </a:rPr>
              <a:t>🌍  Community — collective impact equivalencies (trees, flights, car km), leaderboard, 6-month trend chart</a:t>
            </a:r>
          </a:p>
          <a:p>
            <a:endParaRPr lang="en-US" sz="1300" dirty="0">
              <a:solidFill>
                <a:srgbClr val="2A3A26"/>
              </a:solidFill>
            </a:endParaRPr>
          </a:p>
          <a:p>
            <a:r>
              <a:rPr lang="en-US" sz="1300" dirty="0">
                <a:solidFill>
                  <a:srgbClr val="2A3A26"/>
                </a:solidFill>
              </a:rPr>
              <a:t>🎯  Goals — per-category progress bars against SDG 12 science-based benchmarks</a:t>
            </a:r>
          </a:p>
          <a:p>
            <a:endParaRPr lang="en-US" sz="1300" dirty="0">
              <a:solidFill>
                <a:srgbClr val="2A3A26"/>
              </a:solidFill>
            </a:endParaRPr>
          </a:p>
          <a:p>
            <a:r>
              <a:rPr lang="en-US" sz="1300" dirty="0">
                <a:solidFill>
                  <a:srgbClr val="2A3A26"/>
                </a:solidFill>
              </a:rPr>
              <a:t>ℹ️  About — methodology, social-norm science, and privacy model</a:t>
            </a:r>
          </a:p>
        </p:txBody>
      </p:sp>
      <p:sp>
        <p:nvSpPr>
          <p:cNvPr id="100017" name="TechBox"/>
          <p:cNvSpPr txBox="1"/>
          <p:nvPr/>
        </p:nvSpPr>
        <p:spPr>
          <a:xfrm>
            <a:off x="7740000" y="2520000"/>
            <a:ext cx="3240000" cy="2160000"/>
          </a:xfrm>
          <a:prstGeom prst="rect">
            <a:avLst/>
          </a:prstGeom>
          <a:solidFill>
            <a:srgbClr val="2E7D32"/>
          </a:solidFill>
        </p:spPr>
        <p:txBody>
          <a:bodyPr/>
          <a:lstStyle/>
          <a:p>
            <a:r>
              <a:rPr lang="en-US" sz="1400" b="0">
                <a:solidFill>
                  <a:srgbClr val="FFFFFF"/>
                </a:solidFill>
              </a:rPr>
              <a:t>Built with</a:t>
            </a:r>
          </a:p>
          <a:p>
            <a:r>
              <a:rPr lang="en-US" sz="1400" b="0">
                <a:solidFill>
                  <a:srgbClr val="FFFFFF"/>
                </a:solidFill>
              </a:rPr>
              <a:t>IBM Bob</a:t>
            </a:r>
          </a:p>
          <a:p>
            <a:endParaRPr lang="en-US" sz="1400" b="0">
              <a:solidFill>
                <a:srgbClr val="FFFFFF"/>
              </a:solidFill>
            </a:endParaRPr>
          </a:p>
          <a:p>
            <a:r>
              <a:rPr lang="en-US" sz="1400" b="0">
                <a:solidFill>
                  <a:srgbClr val="FFFFFF"/>
                </a:solidFill>
              </a:rPr>
              <a:t>Single HTML file</a:t>
            </a:r>
          </a:p>
          <a:p>
            <a:r>
              <a:rPr lang="en-US" sz="1400" b="0">
                <a:solidFill>
                  <a:srgbClr val="FFFFFF"/>
                </a:solidFill>
              </a:rPr>
              <a:t>No framework</a:t>
            </a:r>
          </a:p>
          <a:p>
            <a:r>
              <a:rPr lang="en-US" sz="1400" b="0">
                <a:solidFill>
                  <a:srgbClr val="FFFFFF"/>
                </a:solidFill>
              </a:rPr>
              <a:t>LocalStorage data</a:t>
            </a:r>
          </a:p>
          <a:p>
            <a:r>
              <a:rPr lang="en-US" sz="1400" b="0">
                <a:solidFill>
                  <a:srgbClr val="FFFFFF"/>
                </a:solidFill>
              </a:rPr>
              <a:t>Fully offline</a:t>
            </a:r>
          </a:p>
        </p:txBody>
      </p:sp>
      <p:sp>
        <p:nvSpPr>
          <p:cNvPr id="100018" name="SDGFooter"/>
          <p:cNvSpPr txBox="1"/>
          <p:nvPr/>
        </p:nvSpPr>
        <p:spPr>
          <a:xfrm>
            <a:off x="540000" y="6192000"/>
            <a:ext cx="10440000" cy="288000"/>
          </a:xfrm>
          <a:prstGeom prst="rect">
            <a:avLst/>
          </a:prstGeom>
          <a:noFill/>
        </p:spPr>
        <p:txBody>
          <a:bodyPr/>
          <a:lstStyle/>
          <a:p>
            <a:r>
              <a:rPr lang="en-US" sz="1100" b="0">
                <a:solidFill>
                  <a:srgbClr val="2E7D32"/>
                </a:solidFill>
              </a:rPr>
              <a:t>⚡  UN SDG 12.8 — Ensuring relevant information and awareness for sustainable development and lifestyles in harmony with nature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624</Words>
  <Application>Microsoft Office PowerPoint</Application>
  <PresentationFormat>Widescreen</PresentationFormat>
  <Paragraphs>53</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MACAULAY GOWAN-BROWN</cp:lastModifiedBy>
  <cp:revision>1</cp:revision>
  <dcterms:created xsi:type="dcterms:W3CDTF">2026-10-14T12:31:18Z</dcterms:created>
  <dcterms:modified xsi:type="dcterms:W3CDTF">2026-10-14T12:35:09Z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1.0.144</vt:lpwstr>
  </property>
  <property fmtid="{D5CDD505-2E9C-101B-9397-08002B2CF9AE}" pid="3" name="OfficeCLI.LastModified">
    <vt:lpwstr>2026-10-14T12:31:20Z</vt:lpwstr>
  </property>
</Properties>
</file>